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slide: fill in project title, team name, members, problem statement ID and domain.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4046c3ecfd671d33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h4046c3ecfd671d33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h4046c3ecfd671d33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10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9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ollege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1463040" y="320040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 Institute of Technology and Management, Shivamogga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Dept. of Computer Science &amp; Design Engineering  |  CSE (Data Science)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nexora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7498" y="274320"/>
            <a:ext cx="849302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title.png" id="19" name="Google Shape;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1894" y="1371600"/>
            <a:ext cx="5380212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B8F0"/>
              </a:buClr>
              <a:buSzPts val="3200"/>
              <a:buFont typeface="Calibri"/>
              <a:buNone/>
            </a:pPr>
            <a:r>
              <a:rPr b="1" i="0" lang="en-US" sz="2800" u="none" cap="none" strike="noStrike">
                <a:solidFill>
                  <a:srgbClr val="22B8F0"/>
                </a:solidFill>
                <a:latin typeface="Calibri"/>
                <a:ea typeface="Calibri"/>
                <a:cs typeface="Calibri"/>
                <a:sym typeface="Calibri"/>
              </a:rPr>
              <a:t>EcoScan: AI Plastic Waste Detection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Team: [Team Name]   |   Members: [Name 1], [Name 2], [Name 3], [Name 4]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97280" y="3931920"/>
            <a:ext cx="6949440" cy="566928"/>
          </a:xfrm>
          <a:prstGeom prst="roundRect">
            <a:avLst>
              <a:gd fmla="val 19355" name="adj"/>
            </a:avLst>
          </a:prstGeom>
          <a:solidFill>
            <a:srgbClr val="0F2748"/>
          </a:solidFill>
          <a:ln cap="flat" cmpd="sng" w="9525">
            <a:solidFill>
              <a:srgbClr val="1B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5880" y="41148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1645920" y="393192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Sept.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0440" y="41148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840480" y="3931920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Seminar Hall, PESITM, Shivamogga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Think. Learn.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577840" y="4617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In association with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pralotech.png" id="29" name="Google Shape;2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95160" y="4617720"/>
            <a:ext cx="382852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contriver.png" id="30" name="Google Shape;3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15172" y="4617720"/>
            <a:ext cx="695346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93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ollege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/>
        </p:nvSpPr>
        <p:spPr>
          <a:xfrm>
            <a:off x="1325880" y="292608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nexora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342" y="274320"/>
            <a:ext cx="659458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NeuralHack  |  30 Sept. 2026  |  [Team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Text 100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People want to dispose of plastic responsibly, but they don't know how.</a:t>
            </a:r>
          </a:p>
        </p:txBody>
      </p:sp>
      <p:sp>
        <p:nvSpPr>
          <p:cNvPr id="1002" name="Shape 1002"/>
          <p:cNvSpPr/>
          <p:nvPr/>
        </p:nvSpPr>
        <p:spPr>
          <a:xfrm>
            <a:off x="457200" y="1572768"/>
            <a:ext cx="2606040" cy="169164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03" name="Shape 1003"/>
          <p:cNvSpPr/>
          <p:nvPr/>
        </p:nvSpPr>
        <p:spPr>
          <a:xfrm>
            <a:off x="640080" y="1755648"/>
            <a:ext cx="384048" cy="384048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1</a:t>
            </a:r>
          </a:p>
        </p:txBody>
      </p:sp>
      <p:sp>
        <p:nvSpPr>
          <p:cNvPr id="1004" name="Text 1004"/>
          <p:cNvSpPr txBox="1"/>
          <p:nvPr/>
        </p:nvSpPr>
        <p:spPr>
          <a:xfrm>
            <a:off x="1143000" y="1755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Plastics look alike</a:t>
            </a:r>
          </a:p>
        </p:txBody>
      </p:sp>
      <p:sp>
        <p:nvSpPr>
          <p:cNvPr id="1005" name="Text 1005"/>
          <p:cNvSpPr txBox="1"/>
          <p:nvPr/>
        </p:nvSpPr>
        <p:spPr>
          <a:xfrm>
            <a:off x="640080" y="2286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Resin codes (#1 PET to #7 Other) are often missing or unreadable, so a PET bottle, a PP tub and a PS cup are hard to tell apart.</a:t>
            </a:r>
          </a:p>
        </p:txBody>
      </p:sp>
      <p:sp>
        <p:nvSpPr>
          <p:cNvPr id="1006" name="Shape 1006"/>
          <p:cNvSpPr/>
          <p:nvPr/>
        </p:nvSpPr>
        <p:spPr>
          <a:xfrm>
            <a:off x="3268980" y="1572768"/>
            <a:ext cx="2606040" cy="169164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07" name="Shape 1007"/>
          <p:cNvSpPr/>
          <p:nvPr/>
        </p:nvSpPr>
        <p:spPr>
          <a:xfrm>
            <a:off x="3451860" y="1755648"/>
            <a:ext cx="384048" cy="384048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2</a:t>
            </a:r>
          </a:p>
        </p:txBody>
      </p:sp>
      <p:sp>
        <p:nvSpPr>
          <p:cNvPr id="1008" name="Text 1008"/>
          <p:cNvSpPr txBox="1"/>
          <p:nvPr/>
        </p:nvSpPr>
        <p:spPr>
          <a:xfrm>
            <a:off x="3954780" y="1755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Rules differ by item</a:t>
            </a:r>
          </a:p>
        </p:txBody>
      </p:sp>
      <p:sp>
        <p:nvSpPr>
          <p:cNvPr id="1009" name="Text 1009"/>
          <p:cNvSpPr txBox="1"/>
          <p:nvPr/>
        </p:nvSpPr>
        <p:spPr>
          <a:xfrm>
            <a:off x="3451860" y="2286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A PET bottle is recyclable, a thin carry bag jams sorting machines, and a foam food box usually belongs in general waste.</a:t>
            </a:r>
          </a:p>
        </p:txBody>
      </p:sp>
      <p:sp>
        <p:nvSpPr>
          <p:cNvPr id="1010" name="Shape 1010"/>
          <p:cNvSpPr/>
          <p:nvPr/>
        </p:nvSpPr>
        <p:spPr>
          <a:xfrm>
            <a:off x="6080760" y="1572768"/>
            <a:ext cx="2606040" cy="169164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11" name="Shape 1011"/>
          <p:cNvSpPr/>
          <p:nvPr/>
        </p:nvSpPr>
        <p:spPr>
          <a:xfrm>
            <a:off x="6263640" y="1755648"/>
            <a:ext cx="384048" cy="384048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3</a:t>
            </a:r>
          </a:p>
        </p:txBody>
      </p:sp>
      <p:sp>
        <p:nvSpPr>
          <p:cNvPr id="1012" name="Text 1012"/>
          <p:cNvSpPr txBox="1"/>
          <p:nvPr/>
        </p:nvSpPr>
        <p:spPr>
          <a:xfrm>
            <a:off x="6766560" y="1755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No feedback, no habit</a:t>
            </a:r>
          </a:p>
        </p:txBody>
      </p:sp>
      <p:sp>
        <p:nvSpPr>
          <p:cNvPr id="1013" name="Text 1013"/>
          <p:cNvSpPr txBox="1"/>
          <p:nvPr/>
        </p:nvSpPr>
        <p:spPr>
          <a:xfrm>
            <a:off x="6263640" y="2286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People never see what their sorting achieves, so good segregation habits don't stick.</a:t>
            </a:r>
          </a:p>
        </p:txBody>
      </p:sp>
      <p:sp>
        <p:nvSpPr>
          <p:cNvPr id="1014" name="Shape 1014"/>
          <p:cNvSpPr/>
          <p:nvPr/>
        </p:nvSpPr>
        <p:spPr>
          <a:xfrm>
            <a:off x="457200" y="3493008"/>
            <a:ext cx="8229600" cy="713232"/>
          </a:xfrm>
          <a:prstGeom prst="roundRect">
            <a:avLst>
              <a:gd name="adj" fmla="val 12000"/>
            </a:avLst>
          </a:prstGeom>
          <a:solidFill>
            <a:srgbClr val="2A1620"/>
          </a:solidFill>
          <a:ln w="9525">
            <a:solidFill>
              <a:srgbClr val="5C2A3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64592" tIns="164592" rIns="164592" bIns="164592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 xml:space="preserve">Result: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contaminated recycling streams and recyclable plastic sent to landfill. We need a tool that tells anyone, from a single photo, what each item is and exactly what to do with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933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ollege.png"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1325880" y="292608"/>
            <a:ext cx="6035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nexora.png"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342" y="274320"/>
            <a:ext cx="659458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/>
          <p:nvPr/>
        </p:nvSpPr>
        <p:spPr>
          <a:xfrm>
            <a:off x="457200" y="47091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NeuralHack  |  30 Sept. 2026  |  [Team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7772400" y="470916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Text 101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EcoScan: </a:t>
            </a:r>
            <a:r>
              <a:rPr lang="en-US" sz="17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snap a photo of your waste and get per-item guidance in seconds.</a:t>
            </a:r>
          </a:p>
        </p:txBody>
      </p:sp>
      <p:sp>
        <p:nvSpPr>
          <p:cNvPr id="1016" name="Shape 1016"/>
          <p:cNvSpPr/>
          <p:nvPr/>
        </p:nvSpPr>
        <p:spPr>
          <a:xfrm>
            <a:off x="457200" y="1536192"/>
            <a:ext cx="1847088" cy="1572768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17" name="Shape 1017"/>
          <p:cNvSpPr/>
          <p:nvPr/>
        </p:nvSpPr>
        <p:spPr>
          <a:xfrm>
            <a:off x="594360" y="1691640"/>
            <a:ext cx="347472" cy="347472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1</a:t>
            </a:r>
          </a:p>
        </p:txBody>
      </p:sp>
      <p:sp>
        <p:nvSpPr>
          <p:cNvPr id="1018" name="Text 1018"/>
          <p:cNvSpPr txBox="1"/>
          <p:nvPr/>
        </p:nvSpPr>
        <p:spPr>
          <a:xfrm>
            <a:off x="1024128" y="1691640"/>
            <a:ext cx="12070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Detect</a:t>
            </a:r>
          </a:p>
        </p:txBody>
      </p:sp>
      <p:sp>
        <p:nvSpPr>
          <p:cNvPr id="1019" name="Text 1019"/>
          <p:cNvSpPr txBox="1"/>
          <p:nvPr/>
        </p:nvSpPr>
        <p:spPr>
          <a:xfrm>
            <a:off x="594360" y="2157984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AI vision model finds bottles, bags, containers, cups, straws and more in the photo.</a:t>
            </a:r>
          </a:p>
        </p:txBody>
      </p:sp>
      <p:sp>
        <p:nvSpPr>
          <p:cNvPr id="1020" name="Shape 1020"/>
          <p:cNvSpPr/>
          <p:nvPr/>
        </p:nvSpPr>
        <p:spPr>
          <a:xfrm>
            <a:off x="2350008" y="2194560"/>
            <a:ext cx="182880" cy="237744"/>
          </a:xfrm>
          <a:prstGeom prst="rightArrow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21" name="Shape 1021"/>
          <p:cNvSpPr/>
          <p:nvPr/>
        </p:nvSpPr>
        <p:spPr>
          <a:xfrm>
            <a:off x="2578608" y="1536192"/>
            <a:ext cx="1847088" cy="1572768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22" name="Shape 1022"/>
          <p:cNvSpPr/>
          <p:nvPr/>
        </p:nvSpPr>
        <p:spPr>
          <a:xfrm>
            <a:off x="2715768" y="1691640"/>
            <a:ext cx="347472" cy="347472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2</a:t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3145536" y="1691640"/>
            <a:ext cx="12070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Understand</a:t>
            </a:r>
          </a:p>
        </p:txBody>
      </p:sp>
      <p:sp>
        <p:nvSpPr>
          <p:cNvPr id="1024" name="Text 1024"/>
          <p:cNvSpPr txBox="1"/>
          <p:nvPr/>
        </p:nvSpPr>
        <p:spPr>
          <a:xfrm>
            <a:off x="2715768" y="2157984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Each item is mapped to its resin code, recyclability, bin and a waste level.</a:t>
            </a:r>
          </a:p>
        </p:txBody>
      </p:sp>
      <p:sp>
        <p:nvSpPr>
          <p:cNvPr id="1025" name="Shape 1025"/>
          <p:cNvSpPr/>
          <p:nvPr/>
        </p:nvSpPr>
        <p:spPr>
          <a:xfrm>
            <a:off x="4471416" y="2194560"/>
            <a:ext cx="182880" cy="237744"/>
          </a:xfrm>
          <a:prstGeom prst="rightArrow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>
            <a:off x="4700016" y="1536192"/>
            <a:ext cx="1847088" cy="1572768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27" name="Shape 1027"/>
          <p:cNvSpPr/>
          <p:nvPr/>
        </p:nvSpPr>
        <p:spPr>
          <a:xfrm>
            <a:off x="4837176" y="1691640"/>
            <a:ext cx="347472" cy="347472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3</a:t>
            </a:r>
          </a:p>
        </p:txBody>
      </p:sp>
      <p:sp>
        <p:nvSpPr>
          <p:cNvPr id="1028" name="Text 1028"/>
          <p:cNvSpPr txBox="1"/>
          <p:nvPr/>
        </p:nvSpPr>
        <p:spPr>
          <a:xfrm>
            <a:off x="5266944" y="1691640"/>
            <a:ext cx="12070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Act</a:t>
            </a:r>
          </a:p>
        </p:txBody>
      </p:sp>
      <p:sp>
        <p:nvSpPr>
          <p:cNvPr id="1029" name="Text 1029"/>
          <p:cNvSpPr txBox="1"/>
          <p:nvPr/>
        </p:nvSpPr>
        <p:spPr>
          <a:xfrm>
            <a:off x="4837176" y="2157984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Numbered segregation, recycling, reuse and disposal steps, plus nearby recycling centres.</a:t>
            </a:r>
          </a:p>
        </p:txBody>
      </p:sp>
      <p:sp>
        <p:nvSpPr>
          <p:cNvPr id="1030" name="Shape 1030"/>
          <p:cNvSpPr/>
          <p:nvPr/>
        </p:nvSpPr>
        <p:spPr>
          <a:xfrm>
            <a:off x="6592824" y="2194560"/>
            <a:ext cx="182880" cy="237744"/>
          </a:xfrm>
          <a:prstGeom prst="rightArrow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31" name="Shape 1031"/>
          <p:cNvSpPr/>
          <p:nvPr/>
        </p:nvSpPr>
        <p:spPr>
          <a:xfrm>
            <a:off x="6821424" y="1536192"/>
            <a:ext cx="1847088" cy="1572768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32" name="Shape 1032"/>
          <p:cNvSpPr/>
          <p:nvPr/>
        </p:nvSpPr>
        <p:spPr>
          <a:xfrm>
            <a:off x="6958584" y="1691640"/>
            <a:ext cx="347472" cy="347472"/>
          </a:xfrm>
          <a:prstGeom prst="ellipse">
            <a:avLst/>
          </a:prstGeom>
          <a:solidFill>
            <a:srgbClr val="22B8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81933"/>
                </a:solidFill>
                <a:latin typeface="Calibri"/>
                <a:ea typeface="Calibri"/>
                <a:cs typeface="Calibri"/>
              </a:rPr>
              <a:t xml:space="preserve">4</a:t>
            </a:r>
          </a:p>
        </p:txBody>
      </p:sp>
      <p:sp>
        <p:nvSpPr>
          <p:cNvPr id="1033" name="Text 1033"/>
          <p:cNvSpPr txBox="1"/>
          <p:nvPr/>
        </p:nvSpPr>
        <p:spPr>
          <a:xfrm>
            <a:off x="7388352" y="1691640"/>
            <a:ext cx="12070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Track</a:t>
            </a:r>
          </a:p>
        </p:txBody>
      </p:sp>
      <p:sp>
        <p:nvSpPr>
          <p:cNvPr id="1034" name="Text 1034"/>
          <p:cNvSpPr txBox="1"/>
          <p:nvPr/>
        </p:nvSpPr>
        <p:spPr>
          <a:xfrm>
            <a:off x="6958584" y="2157984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Dashboard with scan history, eco points, levels, CO₂ saved and community totals.</a:t>
            </a:r>
          </a:p>
        </p:txBody>
      </p:sp>
      <p:sp>
        <p:nvSpPr>
          <p:cNvPr id="1035" name="Text 1035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EXAMPLE SCAN: 2 water bottles, 1 carry bag, 1 takeaway box</a:t>
            </a:r>
          </a:p>
        </p:txBody>
      </p:sp>
      <p:sp>
        <p:nvSpPr>
          <p:cNvPr id="1036" name="Shape 1036"/>
          <p:cNvSpPr/>
          <p:nvPr/>
        </p:nvSpPr>
        <p:spPr>
          <a:xfrm>
            <a:off x="457200" y="3611880"/>
            <a:ext cx="2011680" cy="62179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Water bottle ×2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#1 PET   </a:t>
            </a:r>
            <a:r>
              <a:rPr lang="en-US" sz="1100" b="1" i="0" dirty="0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 xml:space="preserve">● Recycle</a:t>
            </a:r>
          </a:p>
        </p:txBody>
      </p:sp>
      <p:sp>
        <p:nvSpPr>
          <p:cNvPr id="1037" name="Shape 1037"/>
          <p:cNvSpPr/>
          <p:nvPr/>
        </p:nvSpPr>
        <p:spPr>
          <a:xfrm>
            <a:off x="2606040" y="3611880"/>
            <a:ext cx="2011680" cy="62179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Carry bag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#4 LDPE   </a:t>
            </a:r>
            <a:r>
              <a:rPr lang="en-US" sz="1100" b="1" i="0" dirty="0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 xml:space="preserve">● Drop-off point</a:t>
            </a:r>
          </a:p>
        </p:txBody>
      </p:sp>
      <p:sp>
        <p:nvSpPr>
          <p:cNvPr id="1038" name="Shape 1038"/>
          <p:cNvSpPr/>
          <p:nvPr/>
        </p:nvSpPr>
        <p:spPr>
          <a:xfrm>
            <a:off x="4754880" y="3611880"/>
            <a:ext cx="2011680" cy="62179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Takeaway box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#5 PP   </a:t>
            </a:r>
            <a:r>
              <a:rPr lang="en-US" sz="1100" b="1" i="0" dirty="0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 xml:space="preserve">● Recycle</a:t>
            </a:r>
          </a:p>
        </p:txBody>
      </p:sp>
      <p:sp>
        <p:nvSpPr>
          <p:cNvPr id="1039" name="Shape 1039"/>
          <p:cNvSpPr/>
          <p:nvPr/>
        </p:nvSpPr>
        <p:spPr>
          <a:xfrm>
            <a:off x="6903720" y="3611880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113A2E"/>
          </a:solidFill>
          <a:ln w="9525">
            <a:solidFill>
              <a:srgbClr val="1F6B4F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MEDIUM waste level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 xml:space="preserve">+38 pts · ≈0.13 kg CO₂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9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ollege.png"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/>
          <p:nvPr/>
        </p:nvSpPr>
        <p:spPr>
          <a:xfrm>
            <a:off x="1325880" y="292608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&amp; Tech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nexora.png"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342" y="274320"/>
            <a:ext cx="659458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NeuralHack  |  30 Sept. 2026  |  [Team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Text 1040"/>
          <p:cNvSpPr txBox="1"/>
          <p:nvPr/>
        </p:nvSpPr>
        <p:spPr>
          <a:xfrm>
            <a:off x="457200" y="10058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ARCHITECTURE</a:t>
            </a:r>
          </a:p>
        </p:txBody>
      </p:sp>
      <p:sp>
        <p:nvSpPr>
          <p:cNvPr id="1041" name="Shape 1041"/>
          <p:cNvSpPr/>
          <p:nvPr/>
        </p:nvSpPr>
        <p:spPr>
          <a:xfrm>
            <a:off x="457200" y="1298448"/>
            <a:ext cx="4754880" cy="50292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Browser  </a:t>
            </a:r>
            <a:r>
              <a:rPr lang="en-US" sz="11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HTML · CSS · JS · phone camera upload</a:t>
            </a:r>
          </a:p>
        </p:txBody>
      </p:sp>
      <p:sp>
        <p:nvSpPr>
          <p:cNvPr id="1042" name="Shape 1042"/>
          <p:cNvSpPr/>
          <p:nvPr/>
        </p:nvSpPr>
        <p:spPr>
          <a:xfrm>
            <a:off x="2724912" y="1828800"/>
            <a:ext cx="219456" cy="219456"/>
          </a:xfrm>
          <a:prstGeom prst="downArrow">
            <a:avLst/>
          </a:prstGeom>
          <a:solidFill>
            <a:srgbClr val="22B8F0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43" name="Shape 1043"/>
          <p:cNvSpPr/>
          <p:nvPr/>
        </p:nvSpPr>
        <p:spPr>
          <a:xfrm>
            <a:off x="457200" y="2075688"/>
            <a:ext cx="4754880" cy="502920"/>
          </a:xfrm>
          <a:prstGeom prst="roundRect">
            <a:avLst>
              <a:gd name="adj" fmla="val 12000"/>
            </a:avLst>
          </a:prstGeom>
          <a:solidFill>
            <a:srgbClr val="0E3350"/>
          </a:solidFill>
          <a:ln w="9525">
            <a:solidFill>
              <a:srgbClr val="22B8F0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Flask API  </a:t>
            </a:r>
            <a:r>
              <a:rPr lang="en-US" sz="11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POST /api/scan · /api/stats · /api/history</a:t>
            </a:r>
          </a:p>
        </p:txBody>
      </p:sp>
      <p:sp>
        <p:nvSpPr>
          <p:cNvPr id="1044" name="Shape 1044"/>
          <p:cNvSpPr/>
          <p:nvPr/>
        </p:nvSpPr>
        <p:spPr>
          <a:xfrm>
            <a:off x="2724912" y="2606040"/>
            <a:ext cx="219456" cy="219456"/>
          </a:xfrm>
          <a:prstGeom prst="downArrow">
            <a:avLst/>
          </a:prstGeom>
          <a:solidFill>
            <a:srgbClr val="22B8F0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n-US"/>
          </a:p>
        </p:txBody>
      </p:sp>
      <p:sp>
        <p:nvSpPr>
          <p:cNvPr id="1045" name="Shape 1045"/>
          <p:cNvSpPr/>
          <p:nvPr/>
        </p:nvSpPr>
        <p:spPr>
          <a:xfrm>
            <a:off x="457200" y="2852928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AI vision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OpenRouter free models, auto-fallback</a:t>
            </a:r>
          </a:p>
        </p:txBody>
      </p:sp>
      <p:sp>
        <p:nvSpPr>
          <p:cNvPr id="1046" name="Shape 1046"/>
          <p:cNvSpPr/>
          <p:nvPr/>
        </p:nvSpPr>
        <p:spPr>
          <a:xfrm>
            <a:off x="2072640" y="2852928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Knowledge base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Resins, bins, actions, CO₂, points</a:t>
            </a:r>
          </a:p>
        </p:txBody>
      </p:sp>
      <p:sp>
        <p:nvSpPr>
          <p:cNvPr id="1047" name="Shape 1047"/>
          <p:cNvSpPr/>
          <p:nvPr/>
        </p:nvSpPr>
        <p:spPr>
          <a:xfrm>
            <a:off x="3688080" y="2852928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Storage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Supabase Postgres / SQLite</a:t>
            </a:r>
          </a:p>
        </p:txBody>
      </p:sp>
      <p:sp>
        <p:nvSpPr>
          <p:cNvPr id="1048" name="Text 1048"/>
          <p:cNvSpPr txBox="1"/>
          <p:nvPr/>
        </p:nvSpPr>
        <p:spPr>
          <a:xfrm>
            <a:off x="457200" y="3840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 xml:space="preserve">Key idea: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the AI detects, the knowledge base decides. Advice stays consistent whichever model answers.</a:t>
            </a:r>
          </a:p>
        </p:txBody>
      </p:sp>
      <p:sp>
        <p:nvSpPr>
          <p:cNvPr id="1049" name="Text 1049"/>
          <p:cNvSpPr txBox="1"/>
          <p:nvPr/>
        </p:nvSpPr>
        <p:spPr>
          <a:xfrm>
            <a:off x="5486400" y="1005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TECH STACK</a:t>
            </a:r>
          </a:p>
        </p:txBody>
      </p:sp>
      <p:sp>
        <p:nvSpPr>
          <p:cNvPr id="1050" name="Shape 1050"/>
          <p:cNvSpPr/>
          <p:nvPr/>
        </p:nvSpPr>
        <p:spPr>
          <a:xfrm>
            <a:off x="5486400" y="1298448"/>
            <a:ext cx="3200400" cy="420624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Frontend  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HTML, CSS, JS, Chart.js</a:t>
            </a:r>
          </a:p>
        </p:txBody>
      </p:sp>
      <p:sp>
        <p:nvSpPr>
          <p:cNvPr id="1051" name="Shape 1051"/>
          <p:cNvSpPr/>
          <p:nvPr/>
        </p:nvSpPr>
        <p:spPr>
          <a:xfrm>
            <a:off x="5486400" y="1783080"/>
            <a:ext cx="3200400" cy="420624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Backend  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Python 3.11, Flask, gunicorn</a:t>
            </a:r>
          </a:p>
        </p:txBody>
      </p:sp>
      <p:sp>
        <p:nvSpPr>
          <p:cNvPr id="1052" name="Shape 1052"/>
          <p:cNvSpPr/>
          <p:nvPr/>
        </p:nvSpPr>
        <p:spPr>
          <a:xfrm>
            <a:off x="5486400" y="2267712"/>
            <a:ext cx="3200400" cy="420624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AI  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OpenRouter vision (free)</a:t>
            </a:r>
          </a:p>
        </p:txBody>
      </p:sp>
      <p:sp>
        <p:nvSpPr>
          <p:cNvPr id="1053" name="Shape 1053"/>
          <p:cNvSpPr/>
          <p:nvPr/>
        </p:nvSpPr>
        <p:spPr>
          <a:xfrm>
            <a:off x="5486400" y="2752344"/>
            <a:ext cx="3200400" cy="420624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Database  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Supabase (Postgres)</a:t>
            </a:r>
          </a:p>
        </p:txBody>
      </p:sp>
      <p:sp>
        <p:nvSpPr>
          <p:cNvPr id="1054" name="Shape 1054"/>
          <p:cNvSpPr/>
          <p:nvPr/>
        </p:nvSpPr>
        <p:spPr>
          <a:xfrm>
            <a:off x="5486400" y="3236976"/>
            <a:ext cx="3200400" cy="420624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Deploy  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Render</a:t>
            </a:r>
          </a:p>
        </p:txBody>
      </p:sp>
      <p:sp>
        <p:nvSpPr>
          <p:cNvPr id="1055" name="Shape 1055"/>
          <p:cNvSpPr/>
          <p:nvPr/>
        </p:nvSpPr>
        <p:spPr>
          <a:xfrm>
            <a:off x="5486400" y="3721608"/>
            <a:ext cx="3200400" cy="420624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Tests   </a:t>
            </a:r>
            <a:r>
              <a:rPr lang="en-US" sz="115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pytest, AI mocked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93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ollege.png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1325880" y="292608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Of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nexora.png"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342" y="274320"/>
            <a:ext cx="659458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NeuralHack  |  30 Sept. 2026  |  [Team 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Shape 1056"/>
          <p:cNvSpPr/>
          <p:nvPr/>
        </p:nvSpPr>
        <p:spPr>
          <a:xfrm>
            <a:off x="457200" y="1097280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34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₹0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running cost: free AI models,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Supabase and Render tiers</a:t>
            </a:r>
          </a:p>
        </p:txBody>
      </p:sp>
      <p:sp>
        <p:nvSpPr>
          <p:cNvPr id="1057" name="Shape 1057"/>
          <p:cNvSpPr/>
          <p:nvPr/>
        </p:nvSpPr>
        <p:spPr>
          <a:xfrm>
            <a:off x="2560320" y="1097280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34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100%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of detected items get a bin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and step-by-step actions</a:t>
            </a:r>
          </a:p>
        </p:txBody>
      </p:sp>
      <p:sp>
        <p:nvSpPr>
          <p:cNvPr id="1058" name="Shape 1058"/>
          <p:cNvSpPr/>
          <p:nvPr/>
        </p:nvSpPr>
        <p:spPr>
          <a:xfrm>
            <a:off x="4663440" y="1097280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34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7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resin codes and 8 plastic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categories recognised</a:t>
            </a:r>
          </a:p>
        </p:txBody>
      </p:sp>
      <p:sp>
        <p:nvSpPr>
          <p:cNvPr id="1059" name="Shape 1059"/>
          <p:cNvSpPr/>
          <p:nvPr/>
        </p:nvSpPr>
        <p:spPr>
          <a:xfrm>
            <a:off x="6766560" y="1097280"/>
            <a:ext cx="1920240" cy="1261872"/>
          </a:xfrm>
          <a:prstGeom prst="roundRect">
            <a:avLst>
              <a:gd name="adj" fmla="val 12000"/>
            </a:avLst>
          </a:prstGeom>
          <a:solidFill>
            <a:srgbClr val="0F2748"/>
          </a:solidFill>
          <a:ln w="9525">
            <a:solidFill>
              <a:srgbClr val="1B3B66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3400" b="1" i="0" dirty="0">
                <a:solidFill>
                  <a:srgbClr val="22B8F0"/>
                </a:solidFill>
                <a:latin typeface="Calibri"/>
                <a:ea typeface="Calibri"/>
                <a:cs typeface="Calibri"/>
              </a:rPr>
              <a:t xml:space="preserve">3×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model fallback keeps scans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working under rate limits</a:t>
            </a:r>
          </a:p>
        </p:txBody>
      </p:sp>
      <p:sp>
        <p:nvSpPr>
          <p:cNvPr id="1060" name="Text 1060"/>
          <p:cNvSpPr txBox="1"/>
          <p:nvPr/>
        </p:nvSpPr>
        <p:spPr>
          <a:xfrm>
            <a:off x="457200" y="25420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WHO BENEFITS</a:t>
            </a:r>
          </a:p>
        </p:txBody>
      </p:sp>
      <p:sp>
        <p:nvSpPr>
          <p:cNvPr id="1061" name="Text 1061"/>
          <p:cNvSpPr txBox="1"/>
          <p:nvPr/>
        </p:nvSpPr>
        <p:spPr>
          <a:xfrm>
            <a:off x="457200" y="2852928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900"/>
              </a:spcAft>
              <a:buClr>
                <a:srgbClr val="22B8F0"/>
              </a:buClr>
              <a:buFont typeface="Arial"/>
              <a:buChar char="•"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Households: </a:t>
            </a:r>
            <a:r>
              <a:rPr lang="en-US" sz="12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sort kitchen waste correctly from one photo</a:t>
            </a:r>
          </a:p>
          <a:p>
            <a:pPr marL="171450" indent="-171450" algn="l">
              <a:spcAft>
                <a:spcPts val="900"/>
              </a:spcAft>
              <a:buClr>
                <a:srgbClr val="22B8F0"/>
              </a:buClr>
              <a:buFont typeface="Arial"/>
              <a:buChar char="•"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Eco-clubs &amp; students: </a:t>
            </a:r>
            <a:r>
              <a:rPr lang="en-US" sz="12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report clean-up drives with counts and totals</a:t>
            </a:r>
          </a:p>
          <a:p>
            <a:pPr marL="171450" indent="-171450" algn="l">
              <a:spcAft>
                <a:spcPts val="900"/>
              </a:spcAft>
              <a:buClr>
                <a:srgbClr val="22B8F0"/>
              </a:buClr>
              <a:buFont typeface="Arial"/>
              <a:buChar char="•"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Campus &amp; office staff: </a:t>
            </a:r>
            <a:r>
              <a:rPr lang="en-US" sz="1200" b="0" i="0" dirty="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 xml:space="preserve">train people with consistent segregation rules</a:t>
            </a:r>
          </a:p>
        </p:txBody>
      </p:sp>
      <p:sp>
        <p:nvSpPr>
          <p:cNvPr id="1062" name="Shape 1062"/>
          <p:cNvSpPr/>
          <p:nvPr/>
        </p:nvSpPr>
        <p:spPr>
          <a:xfrm>
            <a:off x="4663440" y="2542032"/>
            <a:ext cx="4023360" cy="1828800"/>
          </a:xfrm>
          <a:prstGeom prst="roundRect">
            <a:avLst>
              <a:gd name="adj" fmla="val 12000"/>
            </a:avLst>
          </a:prstGeom>
          <a:solidFill>
            <a:srgbClr val="113A2E"/>
          </a:solidFill>
          <a:ln w="9525">
            <a:solidFill>
              <a:srgbClr val="1F6B4F"/>
            </a:solidFill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64592" tIns="164592" rIns="164592" bIns="164592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 xml:space="preserve">Environmental outcome</a:t>
            </a:r>
          </a:p>
          <a:p>
            <a:pPr marL="171450" indent="-171450" algn="l">
              <a:spcAft>
                <a:spcPts val="400"/>
              </a:spcAft>
              <a:buClr>
                <a:srgbClr val="22B8F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Cleaner recycling streams and less recyclable plastic in landfill.</a:t>
            </a:r>
          </a:p>
          <a:p>
            <a:pPr marL="171450" indent="-171450" algn="l">
              <a:spcAft>
                <a:spcPts val="400"/>
              </a:spcAft>
              <a:buClr>
                <a:srgbClr val="22B8F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Visible CO₂ savings and eco points turn one-off sorting into a habit.</a:t>
            </a:r>
          </a:p>
          <a:p>
            <a:pPr marL="171450" indent="-171450" algn="l">
              <a:spcAft>
                <a:spcPts val="0"/>
              </a:spcAft>
              <a:buClr>
                <a:srgbClr val="22B8F0"/>
              </a:buClr>
              <a:buFont typeface="Arial"/>
              <a:buChar char="•"/>
            </a:pPr>
            <a:r>
              <a:rPr lang="en-US" sz="12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Privacy-first: no accounts, EXIF stripped, only a small thumbnail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93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title.png"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880" y="502920"/>
            <a:ext cx="4206240" cy="7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B8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B8F0"/>
                </a:solidFill>
                <a:latin typeface="Calibri"/>
                <a:ea typeface="Calibri"/>
                <a:cs typeface="Calibri"/>
                <a:sym typeface="Calibri"/>
              </a:rPr>
              <a:t>EcoScan  |  Team [Team Name]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868680" y="2788920"/>
            <a:ext cx="2377440" cy="685800"/>
          </a:xfrm>
          <a:prstGeom prst="roundRect">
            <a:avLst>
              <a:gd fmla="val 16000" name="adj"/>
            </a:avLst>
          </a:prstGeom>
          <a:solidFill>
            <a:srgbClr val="0F2748"/>
          </a:solidFill>
          <a:ln cap="flat" cmpd="sng" w="9525">
            <a:solidFill>
              <a:srgbClr val="1B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017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/>
          <p:nvPr/>
        </p:nvSpPr>
        <p:spPr>
          <a:xfrm>
            <a:off x="1417320" y="278892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[Member names]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3474720" y="2788920"/>
            <a:ext cx="2377440" cy="685800"/>
          </a:xfrm>
          <a:prstGeom prst="roundRect">
            <a:avLst>
              <a:gd fmla="val 16000" name="adj"/>
            </a:avLst>
          </a:prstGeom>
          <a:solidFill>
            <a:srgbClr val="0F2748"/>
          </a:solidFill>
          <a:ln cap="flat" cmpd="sng" w="9525">
            <a:solidFill>
              <a:srgbClr val="1B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0" y="3017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/>
        </p:nvSpPr>
        <p:spPr>
          <a:xfrm>
            <a:off x="4023360" y="278892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github.com/fayysl/</a:t>
            </a:r>
            <a:br>
              <a:rPr b="0" i="0" lang="en-US" sz="1200" u="none" cap="none" strike="noStrike"/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palsticwastedetection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080760" y="2788920"/>
            <a:ext cx="2377440" cy="685800"/>
          </a:xfrm>
          <a:prstGeom prst="roundRect">
            <a:avLst>
              <a:gd fmla="val 16000" name="adj"/>
            </a:avLst>
          </a:prstGeom>
          <a:solidFill>
            <a:srgbClr val="0F2748"/>
          </a:solidFill>
          <a:ln cap="flat" cmpd="sng" w="9525">
            <a:solidFill>
              <a:srgbClr val="1B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3017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 txBox="1"/>
          <p:nvPr/>
        </p:nvSpPr>
        <p:spPr>
          <a:xfrm>
            <a:off x="6629400" y="278892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[team email]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ollege.png" id="88" name="Google Shape;8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880" y="3776472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nexora.png" id="89" name="Google Shape;8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1440" y="3730752"/>
            <a:ext cx="749384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/>
        </p:nvSpPr>
        <p:spPr>
          <a:xfrm>
            <a:off x="3932304" y="37947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In association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pralotech.png" id="91" name="Google Shape;9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95344" y="3794760"/>
            <a:ext cx="574277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contriver.png" id="92" name="Google Shape;9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1101" y="3794760"/>
            <a:ext cx="1043019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NeuralHack  |  30 Sept. 2026  |  Main Seminar Hall, PESITM, Shivamogga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